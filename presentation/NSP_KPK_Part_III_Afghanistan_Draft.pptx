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020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706" autoAdjust="0"/>
  </p:normalViewPr>
  <p:slideViewPr>
    <p:cSldViewPr snapToGrid="0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Exports to Afghanistan</c:v>
                </c:pt>
              </c:strCache>
            </c:strRef>
          </c:tx>
          <c:spPr>
            <a:solidFill>
              <a:srgbClr val="D0D0D0"/>
            </a:solidFill>
          </c:spPr>
          <c:dPt>
            <c:idx val="1"/>
            <c:spPr>
              <a:solidFill>
                <a:srgbClr val="196B24"/>
              </a:solidFill>
            </c:spPr>
          </c:dPt>
          <c:cat>
            <c:strRef>
              <c:f>Sheet1!$A$2:$A$3</c:f>
              <c:strCache>
                <c:ptCount val="2"/>
                <c:pt idx="0">
                  <c:v>FY2015</c:v>
                </c:pt>
                <c:pt idx="1">
                  <c:v>FY2024-25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1.699</c:v>
                </c:pt>
                <c:pt idx="1">
                  <c:v>0.774</c:v>
                </c:pt>
              </c:numCache>
            </c:numRef>
          </c:val>
        </c:ser>
        <c:dLbls>
          <c:numFmt formatCode="&quot;$&quot;0.00&quot;bn&quot;" sourceLinked="0"/>
          <c:txPr>
            <a:bodyPr/>
            <a:lstStyle/>
            <a:p>
              <a:pPr>
                <a:defRPr sz="15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0D0D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Candara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FC7AB-DE73-442B-BAFD-B31D5ED803C1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0BC03-9BE3-4F86-8DC7-FB6950E60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651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Improving what is in place. Four verbs steer the change: Flip, Direct, Activate, Learn. The Framework is applied to every field: challenge, what it can be,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discussion covers nine aspects, from Afghanistan to Articles 232 and 234. Afghanistan is the first and is taken up in the next slides. Each card's sub-line is the headline of that aspect in the Conclusions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Afghanistan is the first of nine aspects. Four major takeaways follow, one per slide. Takeaway 1 is supported by figures; takeaways 2 to 4 are framed as shifts in how the issue is treated.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 1. Exports to Afghanistan fell from USD 1.70bn (FY2015) to USD 0.77bn (FY2024-25), a 54 per cent fall in ten years. Bilateral trade fell 28 per cent in 2025 on chamber and PIDE estimates. The switch-to-gauge point is the shift in policy the takeaway argues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 2. Framed as a shift in treatment, not as data. The Conclusions text for this takeaway carries no figures in unstruck form, so none are shown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 3. Three inputs turn assurances into a structure: custom, an independent verifier and area language. The Conclusions items that give examples for this takeaway are struck and are not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 4. Connectivity moves from a reward after stability to a shared interest that starts now, through humanitarian data and a first segment built inside Pakistan.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2F7D0ECE-5C4E-3495-2CEB-8613DE88DDC3}"/>
              </a:ext>
            </a:extLst>
          </p:cNvPr>
          <p:cNvSpPr/>
          <p:nvPr userDrawn="1"/>
        </p:nvSpPr>
        <p:spPr>
          <a:xfrm>
            <a:off x="78043" y="6438202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rgbClr val="215968"/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The Changed Chess Board</a:t>
            </a: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D89AB-CE05-4D46-9B80-784410E0334B}"/>
              </a:ext>
            </a:extLst>
          </p:cNvPr>
          <p:cNvSpPr/>
          <p:nvPr userDrawn="1"/>
        </p:nvSpPr>
        <p:spPr>
          <a:xfrm>
            <a:off x="3093896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Existing Challenges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AB4021-3D22-AFC1-FD62-A16FF736C227}"/>
              </a:ext>
            </a:extLst>
          </p:cNvPr>
          <p:cNvSpPr/>
          <p:nvPr userDrawn="1"/>
        </p:nvSpPr>
        <p:spPr>
          <a:xfrm>
            <a:off x="6109749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Threats Into Opportunities</a:t>
            </a: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BCD596C1-C19A-DDBB-087B-1E2983893A19}"/>
              </a:ext>
            </a:extLst>
          </p:cNvPr>
          <p:cNvSpPr/>
          <p:nvPr userDrawn="1"/>
        </p:nvSpPr>
        <p:spPr>
          <a:xfrm>
            <a:off x="9125602" y="6438201"/>
            <a:ext cx="3066397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Way Forward - The End Game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44D9A88D-B90A-0E33-8AEB-4696CA4A7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14" y="20755"/>
            <a:ext cx="10443336" cy="718298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362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2F7D0ECE-5C4E-3495-2CEB-8613DE88DDC3}"/>
              </a:ext>
            </a:extLst>
          </p:cNvPr>
          <p:cNvSpPr/>
          <p:nvPr userDrawn="1"/>
        </p:nvSpPr>
        <p:spPr>
          <a:xfrm>
            <a:off x="78043" y="6438202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</a:rPr>
              <a:t>The Changed Chess Board</a:t>
            </a: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D89AB-CE05-4D46-9B80-784410E0334B}"/>
              </a:ext>
            </a:extLst>
          </p:cNvPr>
          <p:cNvSpPr/>
          <p:nvPr userDrawn="1"/>
        </p:nvSpPr>
        <p:spPr>
          <a:xfrm>
            <a:off x="3093896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rgbClr val="215968"/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</a:rPr>
              <a:t>Existing Challenges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AB4021-3D22-AFC1-FD62-A16FF736C227}"/>
              </a:ext>
            </a:extLst>
          </p:cNvPr>
          <p:cNvSpPr/>
          <p:nvPr userDrawn="1"/>
        </p:nvSpPr>
        <p:spPr>
          <a:xfrm>
            <a:off x="6109749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Threats Into Opportunities</a:t>
            </a: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BCD596C1-C19A-DDBB-087B-1E2983893A19}"/>
              </a:ext>
            </a:extLst>
          </p:cNvPr>
          <p:cNvSpPr/>
          <p:nvPr userDrawn="1"/>
        </p:nvSpPr>
        <p:spPr>
          <a:xfrm>
            <a:off x="9125602" y="6438201"/>
            <a:ext cx="3066397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Way Forward - The End Game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FA4ED-1D82-E131-58F7-AEBB1FD8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14" y="20755"/>
            <a:ext cx="10443336" cy="718298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802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2F7D0ECE-5C4E-3495-2CEB-8613DE88DDC3}"/>
              </a:ext>
            </a:extLst>
          </p:cNvPr>
          <p:cNvSpPr/>
          <p:nvPr userDrawn="1"/>
        </p:nvSpPr>
        <p:spPr>
          <a:xfrm>
            <a:off x="78043" y="6438202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</a:rPr>
              <a:t>The Changed Chess Board</a:t>
            </a: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D89AB-CE05-4D46-9B80-784410E0334B}"/>
              </a:ext>
            </a:extLst>
          </p:cNvPr>
          <p:cNvSpPr/>
          <p:nvPr userDrawn="1"/>
        </p:nvSpPr>
        <p:spPr>
          <a:xfrm>
            <a:off x="3093896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</a:rPr>
              <a:t>Existing Challenges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AB4021-3D22-AFC1-FD62-A16FF736C227}"/>
              </a:ext>
            </a:extLst>
          </p:cNvPr>
          <p:cNvSpPr/>
          <p:nvPr userDrawn="1"/>
        </p:nvSpPr>
        <p:spPr>
          <a:xfrm>
            <a:off x="6109749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rgbClr val="215968"/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</a:rPr>
              <a:t>Threats Into Opportunities</a:t>
            </a: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BCD596C1-C19A-DDBB-087B-1E2983893A19}"/>
              </a:ext>
            </a:extLst>
          </p:cNvPr>
          <p:cNvSpPr/>
          <p:nvPr userDrawn="1"/>
        </p:nvSpPr>
        <p:spPr>
          <a:xfrm>
            <a:off x="9125602" y="6438201"/>
            <a:ext cx="3066397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Way Forward - The End Game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5497C-CAAE-C1F1-2A99-688080D3C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14" y="20755"/>
            <a:ext cx="10443336" cy="718298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65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2F7D0ECE-5C4E-3495-2CEB-8613DE88DDC3}"/>
              </a:ext>
            </a:extLst>
          </p:cNvPr>
          <p:cNvSpPr/>
          <p:nvPr userDrawn="1"/>
        </p:nvSpPr>
        <p:spPr>
          <a:xfrm>
            <a:off x="78043" y="6438202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</a:rPr>
              <a:t>The Changed Chess Board</a:t>
            </a: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D89AB-CE05-4D46-9B80-784410E0334B}"/>
              </a:ext>
            </a:extLst>
          </p:cNvPr>
          <p:cNvSpPr/>
          <p:nvPr userDrawn="1"/>
        </p:nvSpPr>
        <p:spPr>
          <a:xfrm>
            <a:off x="3093896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</a:rPr>
              <a:t>Existing Challenges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AB4021-3D22-AFC1-FD62-A16FF736C227}"/>
              </a:ext>
            </a:extLst>
          </p:cNvPr>
          <p:cNvSpPr/>
          <p:nvPr userDrawn="1"/>
        </p:nvSpPr>
        <p:spPr>
          <a:xfrm>
            <a:off x="6109749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</a:rPr>
              <a:t>Threats Into Opportunities</a:t>
            </a: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BCD596C1-C19A-DDBB-087B-1E2983893A19}"/>
              </a:ext>
            </a:extLst>
          </p:cNvPr>
          <p:cNvSpPr/>
          <p:nvPr userDrawn="1"/>
        </p:nvSpPr>
        <p:spPr>
          <a:xfrm>
            <a:off x="9125602" y="6438201"/>
            <a:ext cx="3066397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rgbClr val="215968"/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</a:rPr>
              <a:t>Way Forward - The End Game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92ED3A-117C-A321-2B5E-5C0DD5C2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14" y="20755"/>
            <a:ext cx="10443336" cy="718298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7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B728AD-D320-8D21-D786-4C12EA21FF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692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B728AD-D320-8D21-D786-4C12EA21FF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4B9C13-F47F-299E-4F7A-B2BABBA8C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332" y="3069851"/>
            <a:ext cx="10443336" cy="718298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1820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0C1FB8-7A2C-60EE-CFE9-08AB869F8DA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F681598-577E-8E92-5041-F3079C184F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56E23B-C352-6DC2-AB6C-9E86036BC2A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t="229"/>
          <a:stretch>
            <a:fillRect/>
          </a:stretch>
        </p:blipFill>
        <p:spPr>
          <a:xfrm>
            <a:off x="0" y="2875"/>
            <a:ext cx="785706" cy="783742"/>
          </a:xfrm>
          <a:custGeom>
            <a:avLst/>
            <a:gdLst>
              <a:gd name="connsiteX0" fmla="*/ 3429000 w 6858000"/>
              <a:gd name="connsiteY0" fmla="*/ 0 h 6842293"/>
              <a:gd name="connsiteX1" fmla="*/ 6853918 w 6858000"/>
              <a:gd name="connsiteY1" fmla="*/ 3090697 h 6842293"/>
              <a:gd name="connsiteX2" fmla="*/ 6858000 w 6858000"/>
              <a:gd name="connsiteY2" fmla="*/ 3144381 h 6842293"/>
              <a:gd name="connsiteX3" fmla="*/ 6858000 w 6858000"/>
              <a:gd name="connsiteY3" fmla="*/ 3741003 h 6842293"/>
              <a:gd name="connsiteX4" fmla="*/ 6853918 w 6858000"/>
              <a:gd name="connsiteY4" fmla="*/ 3794687 h 6842293"/>
              <a:gd name="connsiteX5" fmla="*/ 4122822 w 6858000"/>
              <a:gd name="connsiteY5" fmla="*/ 6815441 h 6842293"/>
              <a:gd name="connsiteX6" fmla="*/ 3972456 w 6858000"/>
              <a:gd name="connsiteY6" fmla="*/ 6842293 h 6842293"/>
              <a:gd name="connsiteX7" fmla="*/ 2885544 w 6858000"/>
              <a:gd name="connsiteY7" fmla="*/ 6842293 h 6842293"/>
              <a:gd name="connsiteX8" fmla="*/ 2735178 w 6858000"/>
              <a:gd name="connsiteY8" fmla="*/ 6815441 h 6842293"/>
              <a:gd name="connsiteX9" fmla="*/ 4082 w 6858000"/>
              <a:gd name="connsiteY9" fmla="*/ 3794687 h 6842293"/>
              <a:gd name="connsiteX10" fmla="*/ 0 w 6858000"/>
              <a:gd name="connsiteY10" fmla="*/ 3741003 h 6842293"/>
              <a:gd name="connsiteX11" fmla="*/ 0 w 6858000"/>
              <a:gd name="connsiteY11" fmla="*/ 3144381 h 6842293"/>
              <a:gd name="connsiteX12" fmla="*/ 4082 w 6858000"/>
              <a:gd name="connsiteY12" fmla="*/ 3090697 h 6842293"/>
              <a:gd name="connsiteX13" fmla="*/ 3429000 w 6858000"/>
              <a:gd name="connsiteY13" fmla="*/ 0 h 6842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58000" h="6842293">
                <a:moveTo>
                  <a:pt x="3429000" y="0"/>
                </a:moveTo>
                <a:cubicBezTo>
                  <a:pt x="5211512" y="0"/>
                  <a:pt x="6677618" y="1354699"/>
                  <a:pt x="6853918" y="3090697"/>
                </a:cubicBezTo>
                <a:lnTo>
                  <a:pt x="6858000" y="3144381"/>
                </a:lnTo>
                <a:lnTo>
                  <a:pt x="6858000" y="3741003"/>
                </a:lnTo>
                <a:lnTo>
                  <a:pt x="6853918" y="3794687"/>
                </a:lnTo>
                <a:cubicBezTo>
                  <a:pt x="6701124" y="5299219"/>
                  <a:pt x="5579544" y="6517353"/>
                  <a:pt x="4122822" y="6815441"/>
                </a:cubicBezTo>
                <a:lnTo>
                  <a:pt x="3972456" y="6842293"/>
                </a:lnTo>
                <a:lnTo>
                  <a:pt x="2885544" y="6842293"/>
                </a:lnTo>
                <a:lnTo>
                  <a:pt x="2735178" y="6815441"/>
                </a:lnTo>
                <a:cubicBezTo>
                  <a:pt x="1278457" y="6517353"/>
                  <a:pt x="156876" y="5299219"/>
                  <a:pt x="4082" y="3794687"/>
                </a:cubicBezTo>
                <a:lnTo>
                  <a:pt x="0" y="3741003"/>
                </a:lnTo>
                <a:lnTo>
                  <a:pt x="0" y="3144381"/>
                </a:lnTo>
                <a:lnTo>
                  <a:pt x="4082" y="3090697"/>
                </a:lnTo>
                <a:cubicBezTo>
                  <a:pt x="180383" y="1354699"/>
                  <a:pt x="1646488" y="0"/>
                  <a:pt x="3429000" y="0"/>
                </a:cubicBezTo>
                <a:close/>
              </a:path>
            </a:pathLst>
          </a:custGeom>
        </p:spPr>
      </p:pic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4E10D949-02D4-D4F7-7039-554DD6BF6B45}"/>
              </a:ext>
            </a:extLst>
          </p:cNvPr>
          <p:cNvSpPr/>
          <p:nvPr userDrawn="1"/>
        </p:nvSpPr>
        <p:spPr>
          <a:xfrm>
            <a:off x="11530405" y="-6115"/>
            <a:ext cx="694997" cy="731520"/>
          </a:xfrm>
          <a:custGeom>
            <a:avLst/>
            <a:gdLst>
              <a:gd name="connsiteX0" fmla="*/ 2342635 w 2342634"/>
              <a:gd name="connsiteY0" fmla="*/ 0 h 2386367"/>
              <a:gd name="connsiteX1" fmla="*/ 2342635 w 2342634"/>
              <a:gd name="connsiteY1" fmla="*/ 0 h 2386367"/>
              <a:gd name="connsiteX2" fmla="*/ 1171317 w 2342634"/>
              <a:gd name="connsiteY2" fmla="*/ 0 h 2386367"/>
              <a:gd name="connsiteX3" fmla="*/ 0 w 2342634"/>
              <a:gd name="connsiteY3" fmla="*/ 0 h 2386367"/>
              <a:gd name="connsiteX4" fmla="*/ 148881 w 2342634"/>
              <a:gd name="connsiteY4" fmla="*/ 288270 h 2386367"/>
              <a:gd name="connsiteX5" fmla="*/ 148881 w 2342634"/>
              <a:gd name="connsiteY5" fmla="*/ 1894504 h 2386367"/>
              <a:gd name="connsiteX6" fmla="*/ 1171131 w 2342634"/>
              <a:gd name="connsiteY6" fmla="*/ 2386368 h 2386367"/>
              <a:gd name="connsiteX7" fmla="*/ 2193382 w 2342634"/>
              <a:gd name="connsiteY7" fmla="*/ 1894504 h 2386367"/>
              <a:gd name="connsiteX8" fmla="*/ 2193382 w 2342634"/>
              <a:gd name="connsiteY8" fmla="*/ 288270 h 2386367"/>
              <a:gd name="connsiteX9" fmla="*/ 2193382 w 2342634"/>
              <a:gd name="connsiteY9" fmla="*/ 288270 h 2386367"/>
              <a:gd name="connsiteX10" fmla="*/ 2342262 w 2342634"/>
              <a:gd name="connsiteY10" fmla="*/ 0 h 2386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2634" h="2386367">
                <a:moveTo>
                  <a:pt x="2342635" y="0"/>
                </a:moveTo>
                <a:lnTo>
                  <a:pt x="2342635" y="0"/>
                </a:lnTo>
                <a:cubicBezTo>
                  <a:pt x="2342635" y="0"/>
                  <a:pt x="1171317" y="0"/>
                  <a:pt x="1171317" y="0"/>
                </a:cubicBezTo>
                <a:lnTo>
                  <a:pt x="0" y="0"/>
                </a:lnTo>
                <a:cubicBezTo>
                  <a:pt x="81884" y="0"/>
                  <a:pt x="148881" y="129712"/>
                  <a:pt x="148881" y="288270"/>
                </a:cubicBezTo>
                <a:lnTo>
                  <a:pt x="148881" y="1894504"/>
                </a:lnTo>
                <a:lnTo>
                  <a:pt x="1171131" y="2386368"/>
                </a:lnTo>
                <a:lnTo>
                  <a:pt x="2193382" y="1894504"/>
                </a:lnTo>
                <a:lnTo>
                  <a:pt x="2193382" y="288270"/>
                </a:lnTo>
                <a:lnTo>
                  <a:pt x="2193382" y="288270"/>
                </a:lnTo>
                <a:cubicBezTo>
                  <a:pt x="2193382" y="129712"/>
                  <a:pt x="2260378" y="0"/>
                  <a:pt x="2342262" y="0"/>
                </a:cubicBezTo>
                <a:close/>
              </a:path>
            </a:pathLst>
          </a:custGeom>
          <a:solidFill>
            <a:srgbClr val="003100"/>
          </a:solidFill>
          <a:ln w="1856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FC915E-E56C-8616-868A-337F7AFBA83F}"/>
              </a:ext>
            </a:extLst>
          </p:cNvPr>
          <p:cNvSpPr txBox="1"/>
          <p:nvPr userDrawn="1"/>
        </p:nvSpPr>
        <p:spPr>
          <a:xfrm>
            <a:off x="11510339" y="190370"/>
            <a:ext cx="735129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 defTabSz="1218834"/>
            <a:fld id="{2EEC30BB-C55D-48D1-829C-CA741067273B}" type="slidenum">
              <a:rPr lang="id-ID" altLang="en-US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defTabSz="1218834"/>
              <a:t>‹#›</a:t>
            </a:fld>
            <a:endParaRPr lang="id-ID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A5B89621-0B2A-E9FD-F926-4582E785B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14" y="20755"/>
            <a:ext cx="10443336" cy="718298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32EFA4-8738-77A9-152C-B195EA0D1507}"/>
              </a:ext>
            </a:extLst>
          </p:cNvPr>
          <p:cNvSpPr/>
          <p:nvPr userDrawn="1"/>
        </p:nvSpPr>
        <p:spPr>
          <a:xfrm>
            <a:off x="2798703" y="676703"/>
            <a:ext cx="6594594" cy="33061"/>
          </a:xfrm>
          <a:prstGeom prst="ellipse">
            <a:avLst/>
          </a:prstGeom>
          <a:solidFill>
            <a:srgbClr val="CC99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799" b="0" i="0" u="none" strike="noStrike" kern="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01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54" r:id="rId5"/>
    <p:sldLayoutId id="2147483663" r:id="rId6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latin typeface="Candara"/>
              </a:rPr>
              <a:t>Improving What Is In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42416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Candara"/>
              </a:rPr>
              <a:t>Most required actions are already in place, so the same effort can yield more with a change of direction.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The position remains that a whole of nation effort is the most workable answer.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5740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ndara"/>
              </a:rPr>
              <a:t>Flip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ndara"/>
              </a:rPr>
              <a:t>Turn a threat's energy into an input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00984" y="2697480"/>
            <a:ext cx="256032" cy="274320"/>
          </a:xfrm>
          <a:prstGeom prst="rightArrow">
            <a:avLst/>
          </a:prstGeom>
          <a:solidFill>
            <a:srgbClr val="CC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11879" y="205740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3100"/>
                </a:solidFill>
                <a:latin typeface="Candara"/>
              </a:rPr>
              <a:t>Direct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Steer existing activity towards a lawful channel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8464" y="2697480"/>
            <a:ext cx="256032" cy="274320"/>
          </a:xfrm>
          <a:prstGeom prst="rightArrow">
            <a:avLst/>
          </a:prstGeom>
          <a:solidFill>
            <a:srgbClr val="CC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59" y="205740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3100"/>
                </a:solidFill>
                <a:latin typeface="Candara"/>
              </a:rPr>
              <a:t>Activate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Use structures that exist on paper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95944" y="2697480"/>
            <a:ext cx="256032" cy="274320"/>
          </a:xfrm>
          <a:prstGeom prst="rightArrow">
            <a:avLst/>
          </a:prstGeom>
          <a:solidFill>
            <a:srgbClr val="CC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6840" y="205740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3100"/>
                </a:solidFill>
                <a:latin typeface="Candara"/>
              </a:rPr>
              <a:t>Learn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Take a lesson from each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42416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The Framework: each point follows one construct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89120"/>
            <a:ext cx="3108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C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Challenge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What was treated as a problem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87368" y="4800600"/>
            <a:ext cx="237744" cy="274320"/>
          </a:xfrm>
          <a:prstGeom prst="rightArrow">
            <a:avLst/>
          </a:prstGeom>
          <a:solidFill>
            <a:srgbClr val="CC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4389120"/>
            <a:ext cx="3108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C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What it can be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The reframed possibility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470648" y="4800600"/>
            <a:ext cx="237744" cy="274320"/>
          </a:xfrm>
          <a:prstGeom prst="rightArrow">
            <a:avLst/>
          </a:prstGeom>
          <a:solidFill>
            <a:srgbClr val="CC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0" y="4389120"/>
            <a:ext cx="3108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C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Opportunity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What the reframe makes 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53328"/>
            <a:ext cx="104241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ndara"/>
              </a:rPr>
              <a:t>Source: NSP KPK Part III Conclusions (unstruck text)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6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latin typeface="Candara"/>
              </a:rPr>
              <a:t>Nine Aspects, From Afghanistan to Articles 232 and 234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322320" cy="1371600"/>
          </a:xfrm>
          <a:prstGeom prst="roundRect">
            <a:avLst>
              <a:gd name="adj" fmla="val 6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ndara"/>
              </a:rPr>
              <a:t>1  Afghanistan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ndara"/>
              </a:rPr>
              <a:t>The border can be a gauge instead of a switch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65320" y="1097280"/>
            <a:ext cx="3322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2  Political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The merger can be a contract instead of an 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239" y="1097280"/>
            <a:ext cx="3322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3  People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Youth can be a workforce instead of a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3322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4  Civil Administration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Posts can move forward before new ones are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5320" y="2651760"/>
            <a:ext cx="3322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5  Narrative and Information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Pashto content can be a craft instead of a defence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239" y="2651760"/>
            <a:ext cx="3322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6  Technology, Intelligence and Information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A connected population can be a channel instead of a 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06240"/>
            <a:ext cx="3322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7  Economy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Provincial resources can be a local stake instead of a dispute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5320" y="4206240"/>
            <a:ext cx="3322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8  Military and LEAs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Operations can end in convictions instead of clearances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6239" y="4206240"/>
            <a:ext cx="3322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9  Articles 232 and 234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The emergency can be a ladder instead of a pause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53328"/>
            <a:ext cx="104241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ndara"/>
              </a:rPr>
              <a:t>Source: NSP KPK Part III Conclusions (unstruck text)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latin typeface="Candara"/>
              </a:rPr>
              <a:t>Afghanistan: The Border Can Be a Gauge Instead of a Switch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ndara"/>
              </a:rPr>
              <a:t>Afghanistan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828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Political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512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People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96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Civil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Narrative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564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48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Economy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32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Military and LEAs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616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Articles 232 and 234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240280"/>
            <a:ext cx="24688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96B24"/>
                </a:solidFill>
                <a:latin typeface="Candara"/>
              </a:rPr>
              <a:t>Takeaway 1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003100"/>
                </a:solidFill>
                <a:latin typeface="Candara"/>
              </a:rPr>
              <a:t>Border Trade Gauge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The border has been run as a switch. Quota, conduct, surety, conditions, venue and rule can turn it into a gauge that answers to measured conduct.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240280"/>
            <a:ext cx="24688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96B24"/>
                </a:solidFill>
                <a:latin typeface="Candara"/>
              </a:rPr>
              <a:t>Takeaway 2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003100"/>
                </a:solidFill>
                <a:latin typeface="Candara"/>
              </a:rPr>
              <a:t>People and Access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Kin and patients have been seen as a risk or a burden. A managed channel keeps kinship and care inside lawful and checked paths and earns goodwill.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40280"/>
            <a:ext cx="24688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96B24"/>
                </a:solidFill>
                <a:latin typeface="Candara"/>
              </a:rPr>
              <a:t>Takeaway 3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003100"/>
                </a:solidFill>
                <a:latin typeface="Candara"/>
              </a:rPr>
              <a:t>Dialogue and Verification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Talks have rested on assurances. Custom, an independent verifier and area language give dialogue a structure that Pakistan can stand behind.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240280"/>
            <a:ext cx="24688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96B24"/>
                </a:solidFill>
                <a:latin typeface="Candara"/>
              </a:rPr>
              <a:t>Takeaway 4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003100"/>
                </a:solidFill>
                <a:latin typeface="Candara"/>
              </a:rPr>
              <a:t>Connectivity and Shared Risk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Connectivity has been a reward after stability. Humanitarian data and a first segment inside Pakistan make it a shared interest that starts now.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53328"/>
            <a:ext cx="104241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ndara"/>
              </a:rPr>
              <a:t>Source: NSP KPK Part III Conclusions (unstruck text)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latin typeface="Candara"/>
              </a:rPr>
              <a:t>Border Trade Gauge: The Border Has Been Run as a Switch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ndara"/>
              </a:rPr>
              <a:t>Afghanistan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828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Political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512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People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96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Civil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Narrative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564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48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Economy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32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Military and LEAs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616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Articles 232 and 234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502920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Exports to Afghanistan, USD billion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914400" y="265176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309360" y="224028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54864" bIns="54864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96B24"/>
                </a:solidFill>
                <a:latin typeface="Candara"/>
              </a:rPr>
              <a:t>-28%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Bilateral trade, 2024 to 2025 (USD 2.46bn to 1.77bn)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24028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54864" bIns="54864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96B24"/>
                </a:solidFill>
                <a:latin typeface="Candara"/>
              </a:rPr>
              <a:t>-54%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Exports to Afghanistan, FY2015 to FY2024-25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3192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Switch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Open or shut, with nothing in between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32520" y="4389120"/>
            <a:ext cx="457200" cy="292608"/>
          </a:xfrm>
          <a:prstGeom prst="rightArrow">
            <a:avLst/>
          </a:prstGeom>
          <a:solidFill>
            <a:srgbClr val="CC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393192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ndara"/>
              </a:rPr>
              <a:t>Gauge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ndara"/>
              </a:rPr>
              <a:t>Quota, conduct and published triggers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349240"/>
            <a:ext cx="5029200" cy="6400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Trade policy has swung between full closure and full opening, and each swing fed smugglers.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53328"/>
            <a:ext cx="104241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ndara"/>
              </a:rPr>
              <a:t>Source: Part III Abridged, notes 3 and 4 (PIDE and PAJCCI estimates; State Bank of Pakistan export data)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Graphic spid="13" grpId="0">
        <p:bldAsOne/>
      </p:bldGraphic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latin typeface="Candara"/>
              </a:rPr>
              <a:t>People and Access: Kin and Patients Have Been Seen as a Risk or a Burden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ndara"/>
              </a:rPr>
              <a:t>Afghanistan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828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Political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512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People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96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Civil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Narrative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564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48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Economy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32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Military and LEAs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616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Articles 232 and 234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77440"/>
            <a:ext cx="45720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95959"/>
                </a:solidFill>
                <a:latin typeface="Candara"/>
              </a:rPr>
              <a:t>Seen as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003100"/>
                </a:solidFill>
                <a:latin typeface="Candara"/>
              </a:rPr>
              <a:t>A risk or a burden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Kin and patients have been seen as a risk or a burden.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9280" y="3566160"/>
            <a:ext cx="914400" cy="384048"/>
          </a:xfrm>
          <a:prstGeom prst="rightArrow">
            <a:avLst/>
          </a:prstGeom>
          <a:solidFill>
            <a:srgbClr val="CC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0" y="2377440"/>
            <a:ext cx="4572000" cy="2651760"/>
          </a:xfrm>
          <a:prstGeom prst="roundRect">
            <a:avLst>
              <a:gd name="adj" fmla="val 6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ndara"/>
              </a:rPr>
              <a:t>Can be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ndara"/>
              </a:rPr>
              <a:t>A managed channel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ndara"/>
              </a:rPr>
              <a:t>Keeps kinship and care inside lawful and checked paths, and earns goodwill.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42416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The opportunity: goodwill, earned through checked and lawful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53328"/>
            <a:ext cx="104241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ndara"/>
              </a:rPr>
              <a:t>Source: NSP KPK Part III Conclusions (unstruck text)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latin typeface="Candara"/>
              </a:rPr>
              <a:t>Dialogue and Verification: Talks Have Rested on Assurances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ndara"/>
              </a:rPr>
              <a:t>Afghanistan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828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Political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512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People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96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Civil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Narrative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564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48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Economy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32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Military and LEAs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616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Articles 232 and 234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77440"/>
            <a:ext cx="310896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95959"/>
                </a:solidFill>
                <a:latin typeface="Candara"/>
              </a:rPr>
              <a:t>Talks have rested on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003100"/>
                </a:solidFill>
                <a:latin typeface="Candara"/>
              </a:rPr>
              <a:t>Assurances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06240" y="3611880"/>
            <a:ext cx="411480" cy="329184"/>
          </a:xfrm>
          <a:prstGeom prst="rightArrow">
            <a:avLst/>
          </a:prstGeom>
          <a:solidFill>
            <a:srgbClr val="CC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2377440"/>
            <a:ext cx="32918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Custom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3291840"/>
            <a:ext cx="32918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Independent verifier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4206240"/>
            <a:ext cx="32918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Area language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229600" y="3611880"/>
            <a:ext cx="411480" cy="329184"/>
          </a:xfrm>
          <a:prstGeom prst="rightArrow">
            <a:avLst/>
          </a:prstGeom>
          <a:solidFill>
            <a:srgbClr val="CC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0" y="2377440"/>
            <a:ext cx="2560320" cy="2651760"/>
          </a:xfrm>
          <a:prstGeom prst="roundRect">
            <a:avLst>
              <a:gd name="adj" fmla="val 6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ndara"/>
              </a:rPr>
              <a:t>A structure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ndara"/>
              </a:rPr>
              <a:t>Pakistan can stand behind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53328"/>
            <a:ext cx="104241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ndara"/>
              </a:rPr>
              <a:t>Source: NSP KPK Part III Conclusions (unstruck text)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  <p:bldP spid="13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>
                <a:latin typeface="Candara"/>
              </a:rPr>
              <a:t>Connectivity and Shared Risk: A Reward After Stability Can Become a Shared Interest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ndara"/>
              </a:rPr>
              <a:t>Afghanistan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828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Political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512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People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96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Civil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Narrative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564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48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Economy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32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Military and LEAs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61600" y="1005840"/>
            <a:ext cx="107696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54864" bIns="54864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Candara"/>
              </a:rPr>
              <a:t>Articles 232 and 234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7744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95959"/>
                </a:solidFill>
                <a:latin typeface="Candara"/>
              </a:rPr>
              <a:t>Today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ndara"/>
              </a:rPr>
              <a:t>Connectivity has been a reward after stability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43400" y="3611880"/>
            <a:ext cx="411480" cy="329184"/>
          </a:xfrm>
          <a:prstGeom prst="rightArrow">
            <a:avLst/>
          </a:prstGeom>
          <a:solidFill>
            <a:srgbClr val="CC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237744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ndara"/>
              </a:rPr>
              <a:t>Start now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ndara"/>
              </a:rPr>
              <a:t>Humanitarian data and a first segment inside Pakistan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75320" y="3611880"/>
            <a:ext cx="411480" cy="329184"/>
          </a:xfrm>
          <a:prstGeom prst="rightArrow">
            <a:avLst/>
          </a:prstGeom>
          <a:solidFill>
            <a:srgbClr val="CC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0" y="2377440"/>
            <a:ext cx="25603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54864" bIns="54864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3100"/>
                </a:solidFill>
                <a:latin typeface="Candara"/>
              </a:rPr>
              <a:t>Result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003100"/>
                </a:solidFill>
                <a:latin typeface="Candara"/>
              </a:rPr>
              <a:t>A shared interest that starts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53328"/>
            <a:ext cx="1042416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ndara"/>
              </a:rPr>
              <a:t>Source: NSP KPK Part III Conclusions (unstruck text)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11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Candara</vt:lpstr>
      <vt:lpstr>Segoe UI</vt:lpstr>
      <vt:lpstr>Office Theme</vt:lpstr>
      <vt:lpstr>TRANSMUTATION; CHALLENGES INTO OPPORTUNITIES</vt:lpstr>
      <vt:lpstr>PowerPoint Presentation</vt:lpstr>
      <vt:lpstr>WAY FWD - THE END GAME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Khan</dc:creator>
  <cp:lastModifiedBy>Slnzlh</cp:lastModifiedBy>
  <cp:revision>23</cp:revision>
  <dcterms:created xsi:type="dcterms:W3CDTF">2026-10-12T20:27:28Z</dcterms:created>
  <dcterms:modified xsi:type="dcterms:W3CDTF">2026-10-13T23:13:53Z</dcterms:modified>
</cp:coreProperties>
</file>