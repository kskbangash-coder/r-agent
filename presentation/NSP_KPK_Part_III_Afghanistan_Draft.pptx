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Exports to Afghanistan</c:v>
                </c:pt>
              </c:strCache>
            </c:strRef>
          </c:tx>
          <c:spPr>
            <a:solidFill>
              <a:srgbClr val="D0D5DD"/>
            </a:solidFill>
          </c:spPr>
          <c:dPt>
            <c:idx val="1"/>
            <c:spPr>
              <a:solidFill>
                <a:srgbClr val="00857C"/>
              </a:solidFill>
            </c:spPr>
          </c:dPt>
          <c:cat>
            <c:strRef>
              <c:f>Sheet1!$A$2:$A$3</c:f>
              <c:strCache>
                <c:ptCount val="2"/>
                <c:pt idx="0">
                  <c:v>FY2015</c:v>
                </c:pt>
                <c:pt idx="1">
                  <c:v>FY2024-25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1.699</c:v>
                </c:pt>
                <c:pt idx="1">
                  <c:v>0.774</c:v>
                </c:pt>
              </c:numCache>
            </c:numRef>
          </c:val>
        </c:ser>
        <c:dLbls>
          <c:numFmt formatCode="&quot;$&quot;0.00&quot;bn&quot;" sourceLinked="0"/>
          <c:txPr>
            <a:bodyPr/>
            <a:lstStyle/>
            <a:p>
              <a:pPr>
                <a:defRPr sz="15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5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Part III of the NSP KPK paper. Initial slides cover the framing, the nine aspects, and the Afghanistan aspect.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Improving what is in place. Four verbs steer the change: Flip, Direct, Activate, Learn. The Framework is applied to every field: challenge, what it can be, opportunity.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 aspects are the focus. Afghanistan is the first and is discussed in the next slides. Each card's sub-line is the headline of that aspect in the Conclusions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Afghanistan is the first of nine aspects. Four major takeaways are discussed one per slide. Takeaway 1 is supported by figures; takeaways 2 to 4 are framed as shifts in how the issue is treated.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Takeaway 1. Exports to Afghanistan fell from USD 1.70bn (FY2015) to USD 0.77bn (FY2024-25), a 54 per cent fall in ten years. Bilateral trade fell 28 per cent in 2025 on chamber and PIDE estimates. The switch-to-gauge point is the shift in policy the takeaway argues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Takeaway 2. Framed as a shift in treatment, not as data. The supporting examples in the Abridged text are struck in the Conclusions document and are not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Takeaway 3. Three inputs turn assurances into a structure. The Doha and Istanbul examples in the Abridged text are struck in the Conclusions document and are not shown.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Takeaway 4. Connectivity moves from a reward after stability to a shared interest that starts now. The rail cost estimates in the Abridged text are struck in the Conclusions and are not shown.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B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058400" cy="36576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57C"/>
                </a:solidFill>
                <a:latin typeface="Calibri"/>
              </a:rPr>
              <a:t>PART III | NORMALISING THE SECURITY SITUATION OF KPK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82296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B365D"/>
                </a:solidFill>
                <a:latin typeface="Calibri"/>
              </a:rPr>
              <a:t>Transmutation: Challenges into Opportunities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0058400" cy="82296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From the way things are, to a change of direction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32004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57C"/>
                </a:solidFill>
                <a:latin typeface="Calibri"/>
              </a:rPr>
              <a:t>PART III | IMPROVING WHAT IS IN PLACE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B365D"/>
                </a:solidFill>
                <a:latin typeface="Calibri"/>
              </a:rPr>
              <a:t>Same effort, more yield, with a change of direction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64240" cy="82296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2939"/>
                </a:solidFill>
                <a:latin typeface="Calibri"/>
              </a:rPr>
              <a:t>Most required actions are already in place.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939"/>
                </a:solidFill>
                <a:latin typeface="Calibri"/>
              </a:rPr>
              <a:t>The position remains that a whole of nation effort is the most workable answer.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514600"/>
            <a:ext cx="2423160" cy="1737360"/>
          </a:xfrm>
          <a:prstGeom prst="roundRect">
            <a:avLst>
              <a:gd name="adj" fmla="val 8000"/>
            </a:avLst>
          </a:prstGeom>
          <a:solidFill>
            <a:srgbClr val="008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Flip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Turn a threat's energy into an input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63240" y="3200400"/>
            <a:ext cx="274320" cy="292608"/>
          </a:xfrm>
          <a:prstGeom prst="rightArrow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29000" y="2514600"/>
            <a:ext cx="2423160" cy="17373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B365D"/>
                </a:solidFill>
                <a:latin typeface="Calibri"/>
              </a:rPr>
              <a:t>Direct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939"/>
                </a:solidFill>
                <a:latin typeface="Calibri"/>
              </a:rPr>
              <a:t>Steer existing activity towards a lawful channel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43600" y="3200400"/>
            <a:ext cx="274320" cy="292608"/>
          </a:xfrm>
          <a:prstGeom prst="rightArrow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09359" y="2514600"/>
            <a:ext cx="2423160" cy="17373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B365D"/>
                </a:solidFill>
                <a:latin typeface="Calibri"/>
              </a:rPr>
              <a:t>Activate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939"/>
                </a:solidFill>
                <a:latin typeface="Calibri"/>
              </a:rPr>
              <a:t>Use structures that exist on paper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23959" y="3200400"/>
            <a:ext cx="274320" cy="292608"/>
          </a:xfrm>
          <a:prstGeom prst="rightArrow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89719" y="2514600"/>
            <a:ext cx="2423160" cy="17373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B365D"/>
                </a:solidFill>
                <a:latin typeface="Calibri"/>
              </a:rPr>
              <a:t>Learn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939"/>
                </a:solidFill>
                <a:latin typeface="Calibri"/>
              </a:rPr>
              <a:t>Take a lesson from each result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72000"/>
            <a:ext cx="11064240" cy="36576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57C"/>
                </a:solidFill>
                <a:latin typeface="Calibri"/>
              </a:rPr>
              <a:t>The Framework: each point follows one construct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83480"/>
            <a:ext cx="3108960" cy="100584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B365D"/>
                </a:solidFill>
                <a:latin typeface="Calibri"/>
              </a:rPr>
              <a:t>Challenge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939"/>
                </a:solidFill>
                <a:latin typeface="Calibri"/>
              </a:rPr>
              <a:t>What was treated as a problem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931920" y="5367528"/>
            <a:ext cx="320040" cy="292608"/>
          </a:xfrm>
          <a:prstGeom prst="rightArrow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26279" y="4983480"/>
            <a:ext cx="3108960" cy="100584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B365D"/>
                </a:solidFill>
                <a:latin typeface="Calibri"/>
              </a:rPr>
              <a:t>What it can be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939"/>
                </a:solidFill>
                <a:latin typeface="Calibri"/>
              </a:rPr>
              <a:t>The reframed possibility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909560" y="5367528"/>
            <a:ext cx="320040" cy="292608"/>
          </a:xfrm>
          <a:prstGeom prst="rightArrow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503919" y="4983480"/>
            <a:ext cx="3108960" cy="100584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B365D"/>
                </a:solidFill>
                <a:latin typeface="Calibri"/>
              </a:rPr>
              <a:t>Opportunity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939"/>
                </a:solidFill>
                <a:latin typeface="Calibri"/>
              </a:rPr>
              <a:t>The gain, with a fact or lesson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Source: NSP KPK Part III Conclusions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  <p:bldP spid="12" grpId="0" animBg="1"/>
      <p:bldP spid="13" grpId="0" animBg="1"/>
      <p:bldP spid="15" grpId="0" animBg="1"/>
      <p:bldP spid="17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32004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57C"/>
                </a:solidFill>
                <a:latin typeface="Calibri"/>
              </a:rPr>
              <a:t>PART III | NINE ASPECTS IN FOCUS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B365D"/>
                </a:solidFill>
                <a:latin typeface="Calibri"/>
              </a:rPr>
              <a:t>Nine aspects, from Afghanistan to Articles 232 and 234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3566160" cy="1280160"/>
          </a:xfrm>
          <a:prstGeom prst="roundRect">
            <a:avLst>
              <a:gd name="adj" fmla="val 8000"/>
            </a:avLst>
          </a:prstGeom>
          <a:solidFill>
            <a:srgbClr val="008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  Afghanistan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The border can be a gauge instead of a switch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79" y="1508760"/>
            <a:ext cx="3566160" cy="12801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B365D"/>
                </a:solidFill>
                <a:latin typeface="Calibri"/>
              </a:rPr>
              <a:t>2  Political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939"/>
                </a:solidFill>
                <a:latin typeface="Calibri"/>
              </a:rPr>
              <a:t>The merger can be a contract instead of an event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19" y="1508760"/>
            <a:ext cx="3566160" cy="12801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B365D"/>
                </a:solidFill>
                <a:latin typeface="Calibri"/>
              </a:rPr>
              <a:t>3  People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939"/>
                </a:solidFill>
                <a:latin typeface="Calibri"/>
              </a:rPr>
              <a:t>Youth can be a workforce instead of a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971800"/>
            <a:ext cx="3566160" cy="12801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B365D"/>
                </a:solidFill>
                <a:latin typeface="Calibri"/>
              </a:rPr>
              <a:t>4  Civil Administration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939"/>
                </a:solidFill>
                <a:latin typeface="Calibri"/>
              </a:rPr>
              <a:t>Posts can move forward before new ones are built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2971800"/>
            <a:ext cx="3566160" cy="12801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B365D"/>
                </a:solidFill>
                <a:latin typeface="Calibri"/>
              </a:rPr>
              <a:t>5  Narrative and Information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939"/>
                </a:solidFill>
                <a:latin typeface="Calibri"/>
              </a:rPr>
              <a:t>Pashto content can be a craft instead of a defence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2971800"/>
            <a:ext cx="3566160" cy="12801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B365D"/>
                </a:solidFill>
                <a:latin typeface="Calibri"/>
              </a:rPr>
              <a:t>6  Technology, Intelligence and Information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939"/>
                </a:solidFill>
                <a:latin typeface="Calibri"/>
              </a:rPr>
              <a:t>A connected population can be a channel instead of a target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434840"/>
            <a:ext cx="3566160" cy="12801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B365D"/>
                </a:solidFill>
                <a:latin typeface="Calibri"/>
              </a:rPr>
              <a:t>7  Economy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939"/>
                </a:solidFill>
                <a:latin typeface="Calibri"/>
              </a:rPr>
              <a:t>Provincial resources can be a local stake instead of a dispute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4434840"/>
            <a:ext cx="3566160" cy="12801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B365D"/>
                </a:solidFill>
                <a:latin typeface="Calibri"/>
              </a:rPr>
              <a:t>8  Military and LEAs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939"/>
                </a:solidFill>
                <a:latin typeface="Calibri"/>
              </a:rPr>
              <a:t>Operations can end in convictions instead of clearances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4434840"/>
            <a:ext cx="3566160" cy="12801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B365D"/>
                </a:solidFill>
                <a:latin typeface="Calibri"/>
              </a:rPr>
              <a:t>9  Articles 232 and 234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939"/>
                </a:solidFill>
                <a:latin typeface="Calibri"/>
              </a:rPr>
              <a:t>The emergency can be a ladder instead of a pause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Source: NSP KPK Part III Conclusions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32004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57C"/>
                </a:solidFill>
                <a:latin typeface="Calibri"/>
              </a:rPr>
              <a:t>PART III | AFGHANISTAN, 4 MAJOR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B365D"/>
                </a:solidFill>
                <a:latin typeface="Calibri"/>
              </a:rPr>
              <a:t>Afghanistan: the border can be a gauge instead of a switch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008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Afghanistan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8816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Political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2768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People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199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Civil Admin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0672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Narrative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4624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Technology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85759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Economy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2528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Military and LEAs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46480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Articles 232 and 234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468880"/>
            <a:ext cx="2606040" cy="35661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54864" bIns="54864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57C"/>
                </a:solidFill>
                <a:latin typeface="Calibri"/>
              </a:rPr>
              <a:t>Takeaway 1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B365D"/>
                </a:solidFill>
                <a:latin typeface="Calibri"/>
              </a:rPr>
              <a:t>Border Trade Gauge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939"/>
                </a:solidFill>
                <a:latin typeface="Calibri"/>
              </a:rPr>
              <a:t>Quota, conduct, surety, conditions, venue and rule can turn the border into a gauge that answers to measured conduct.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7735" y="2468880"/>
            <a:ext cx="2606040" cy="35661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54864" bIns="54864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57C"/>
                </a:solidFill>
                <a:latin typeface="Calibri"/>
              </a:rPr>
              <a:t>Takeaway 2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B365D"/>
                </a:solidFill>
                <a:latin typeface="Calibri"/>
              </a:rPr>
              <a:t>People and Access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939"/>
                </a:solidFill>
                <a:latin typeface="Calibri"/>
              </a:rPr>
              <a:t>Kin and patients have been seen as a risk or a burden. A managed channel keeps kinship and care inside lawful, checked paths and earns goodwill.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6830" y="2468880"/>
            <a:ext cx="2606040" cy="35661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54864" bIns="54864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57C"/>
                </a:solidFill>
                <a:latin typeface="Calibri"/>
              </a:rPr>
              <a:t>Takeaway 3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B365D"/>
                </a:solidFill>
                <a:latin typeface="Calibri"/>
              </a:rPr>
              <a:t>Dialogue and Verification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939"/>
                </a:solidFill>
                <a:latin typeface="Calibri"/>
              </a:rPr>
              <a:t>Talks have rested on assurances. Custom, an independent verifier and area language give dialogue a structure that Pakistan can stand behind.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5925" y="2468880"/>
            <a:ext cx="2606040" cy="35661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54864" bIns="54864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57C"/>
                </a:solidFill>
                <a:latin typeface="Calibri"/>
              </a:rPr>
              <a:t>Takeaway 4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B365D"/>
                </a:solidFill>
                <a:latin typeface="Calibri"/>
              </a:rPr>
              <a:t>Connectivity and Shared Risk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939"/>
                </a:solidFill>
                <a:latin typeface="Calibri"/>
              </a:rPr>
              <a:t>Connectivity has been a reward after stability. Humanitarian data and a first segment inside Pakistan make it a shared interest that starts now.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Source: NSP KPK Part III Conclusions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32004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57C"/>
                </a:solidFill>
                <a:latin typeface="Calibri"/>
              </a:rPr>
              <a:t>PART III | AFGHANISTAN, TAKEAWAY 1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B365D"/>
                </a:solidFill>
                <a:latin typeface="Calibri"/>
              </a:rPr>
              <a:t>Border trade gauge: the border has been run as a switch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008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Afghanistan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8816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Political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2768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People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199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Civil Admin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0672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Narrative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4624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Technology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85759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Economy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2528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Military and LEAs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46480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Articles 232 and 234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68880"/>
            <a:ext cx="5120640" cy="36576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B365D"/>
                </a:solidFill>
                <a:latin typeface="Calibri"/>
              </a:rPr>
              <a:t>Exports to Afghanistan, USD billion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548640" y="2834640"/>
          <a:ext cx="512064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6035040" y="246888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0857C"/>
                </a:solidFill>
                <a:latin typeface="Calibri"/>
              </a:rPr>
              <a:t>-28%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939"/>
                </a:solidFill>
                <a:latin typeface="Calibri"/>
              </a:rPr>
              <a:t>Bilateral trade, 2024 to 2025 (USD 2.46bn to 1.77bn)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246888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0857C"/>
                </a:solidFill>
                <a:latin typeface="Calibri"/>
              </a:rPr>
              <a:t>-54%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939"/>
                </a:solidFill>
                <a:latin typeface="Calibri"/>
              </a:rPr>
              <a:t>Exports to Afghanistan in ten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4114800"/>
            <a:ext cx="2514600" cy="11887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B365D"/>
                </a:solidFill>
                <a:latin typeface="Calibri"/>
              </a:rPr>
              <a:t>Switch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939"/>
                </a:solidFill>
                <a:latin typeface="Calibri"/>
              </a:rPr>
              <a:t>Open or shut, with nothing in between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641080" y="4544568"/>
            <a:ext cx="548640" cy="292608"/>
          </a:xfrm>
          <a:prstGeom prst="rightArrow">
            <a:avLst/>
          </a:prstGeom>
          <a:solidFill>
            <a:srgbClr val="008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281160" y="411480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008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Gauge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Quota, conduct and published triggers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5486400"/>
            <a:ext cx="5577840" cy="7315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939"/>
                </a:solidFill>
                <a:latin typeface="Calibri"/>
              </a:rPr>
              <a:t>Trade policy has swung between full closure and full opening, and each swing fed smugglers.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Source: Part III Abridged, notes 3 and 4 (PIDE and PAJCCI estimates; State Bank of Pakistan export data FY2015 and FY2024-25)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Graphic spid="14" grpId="0">
        <p:bldAsOne/>
      </p:bldGraphic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32004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57C"/>
                </a:solidFill>
                <a:latin typeface="Calibri"/>
              </a:rPr>
              <a:t>PART III | AFGHANISTAN, TAKEAWAY 2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B365D"/>
                </a:solidFill>
                <a:latin typeface="Calibri"/>
              </a:rPr>
              <a:t>People and access: kin and patients seen as a risk can become a managed channel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008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Afghanistan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8816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Political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2768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People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199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Civil Admin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0672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Narrative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4624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Technology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85759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Economy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2528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Military and LEAs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46480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Articles 232 and 234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51760"/>
            <a:ext cx="4754880" cy="246888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54864" bIns="54864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667085"/>
                </a:solidFill>
                <a:latin typeface="Calibri"/>
              </a:rPr>
              <a:t>Seen as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B365D"/>
                </a:solidFill>
                <a:latin typeface="Calibri"/>
              </a:rPr>
              <a:t>A risk or a burden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939"/>
                </a:solidFill>
                <a:latin typeface="Calibri"/>
              </a:rPr>
              <a:t>Kin movement and patients from Afghanistan have been treated as a problem to contain.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486400" y="3657600"/>
            <a:ext cx="1188720" cy="411480"/>
          </a:xfrm>
          <a:prstGeom prst="rightArrow">
            <a:avLst/>
          </a:prstGeom>
          <a:solidFill>
            <a:srgbClr val="008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0" y="2651760"/>
            <a:ext cx="4754880" cy="2468880"/>
          </a:xfrm>
          <a:prstGeom prst="roundRect">
            <a:avLst>
              <a:gd name="adj" fmla="val 8000"/>
            </a:avLst>
          </a:prstGeom>
          <a:solidFill>
            <a:srgbClr val="008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28600" rIns="228600" tIns="54864" bIns="54864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Can be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 managed channel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Keeps kinship and care inside lawful and checked paths, and earns goodwill.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B365D"/>
                </a:solidFill>
                <a:latin typeface="Calibri"/>
              </a:rPr>
              <a:t>The opportunity: goodwill, earned through checked and lawful paths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Source: NSP KPK Part III Conclusions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32004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57C"/>
                </a:solidFill>
                <a:latin typeface="Calibri"/>
              </a:rPr>
              <a:t>PART III | AFGHANISTAN, TAKEAWAY 3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B365D"/>
                </a:solidFill>
                <a:latin typeface="Calibri"/>
              </a:rPr>
              <a:t>Dialogue and verification: talks have rested on assurances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008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Afghanistan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8816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Political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2768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People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199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Civil Admin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0672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Narrative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4624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Technology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85759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Economy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2528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Military and LEAs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46480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Articles 232 and 234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51760"/>
            <a:ext cx="3108960" cy="246888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54864" bIns="54864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667085"/>
                </a:solidFill>
                <a:latin typeface="Calibri"/>
              </a:rPr>
              <a:t>Talks have rested on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B365D"/>
                </a:solidFill>
                <a:latin typeface="Calibri"/>
              </a:rPr>
              <a:t>Assurances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840480" y="3657600"/>
            <a:ext cx="411480" cy="329184"/>
          </a:xfrm>
          <a:prstGeom prst="rightArrow">
            <a:avLst/>
          </a:prstGeom>
          <a:solidFill>
            <a:srgbClr val="008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34840" y="2651760"/>
            <a:ext cx="33832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85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B365D"/>
                </a:solidFill>
                <a:latin typeface="Calibri"/>
              </a:rPr>
              <a:t>Custom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520439"/>
            <a:ext cx="33832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85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B365D"/>
                </a:solidFill>
                <a:latin typeface="Calibri"/>
              </a:rPr>
              <a:t>Independent verifier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40" y="4389120"/>
            <a:ext cx="33832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85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B365D"/>
                </a:solidFill>
                <a:latin typeface="Calibri"/>
              </a:rPr>
              <a:t>Area language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955279" y="3657600"/>
            <a:ext cx="411480" cy="329184"/>
          </a:xfrm>
          <a:prstGeom prst="rightArrow">
            <a:avLst/>
          </a:prstGeom>
          <a:solidFill>
            <a:srgbClr val="008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03920" y="2651760"/>
            <a:ext cx="3108960" cy="2468880"/>
          </a:xfrm>
          <a:prstGeom prst="roundRect">
            <a:avLst>
              <a:gd name="adj" fmla="val 8000"/>
            </a:avLst>
          </a:prstGeom>
          <a:solidFill>
            <a:srgbClr val="008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54864" bIns="54864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 structure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Pakistan can stand behind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Source: NSP KPK Part III Conclusions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5" grpId="0" animBg="1"/>
      <p:bldP spid="16" grpId="0" animBg="1"/>
      <p:bldP spid="17" grpId="0" animBg="1"/>
      <p:bldP spid="14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32004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857C"/>
                </a:solidFill>
                <a:latin typeface="Calibri"/>
              </a:rPr>
              <a:t>PART III | AFGHANISTAN, TAKEAWAY 4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B365D"/>
                </a:solidFill>
                <a:latin typeface="Calibri"/>
              </a:rPr>
              <a:t>Connectivity and shared risk: a shared interest that starts now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008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Afghanistan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8816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Political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2768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People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199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Civil Admin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0672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Narrative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4624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Technology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85759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Economy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2528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Military and LEAs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464800" y="1417320"/>
            <a:ext cx="114808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54864" bIns="54864" wrap="square"/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67085"/>
                </a:solidFill>
                <a:latin typeface="Calibri"/>
              </a:rPr>
              <a:t>Articles 232 and 234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743200"/>
            <a:ext cx="3291840" cy="21031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54864" bIns="54864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667085"/>
                </a:solidFill>
                <a:latin typeface="Calibri"/>
              </a:rPr>
              <a:t>Today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D2939"/>
                </a:solidFill>
                <a:latin typeface="Calibri"/>
              </a:rPr>
              <a:t>Connectivity has been a reward after stability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931920" y="3566160"/>
            <a:ext cx="411480" cy="329184"/>
          </a:xfrm>
          <a:prstGeom prst="rightArrow">
            <a:avLst/>
          </a:prstGeom>
          <a:solidFill>
            <a:srgbClr val="008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34840" y="2743200"/>
            <a:ext cx="3291840" cy="2103120"/>
          </a:xfrm>
          <a:prstGeom prst="roundRect">
            <a:avLst>
              <a:gd name="adj" fmla="val 8000"/>
            </a:avLst>
          </a:prstGeom>
          <a:solidFill>
            <a:srgbClr val="008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54864" bIns="54864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Start now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Humanitarian data and a first segment inside Pakistan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818120" y="3566160"/>
            <a:ext cx="411480" cy="329184"/>
          </a:xfrm>
          <a:prstGeom prst="rightArrow">
            <a:avLst/>
          </a:prstGeom>
          <a:solidFill>
            <a:srgbClr val="008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21040" y="2743200"/>
            <a:ext cx="329184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85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201168" tIns="54864" bIns="54864"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B365D"/>
                </a:solidFill>
                <a:latin typeface="Calibri"/>
              </a:rPr>
              <a:t>Result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1B365D"/>
                </a:solidFill>
                <a:latin typeface="Calibri"/>
              </a:rPr>
              <a:t>A shared interest that starts now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Source: NSP KPK Part III Conclusions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