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2" r:id="rId2"/>
    <p:sldId id="259" r:id="rId3"/>
    <p:sldId id="261" r:id="rId4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020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706" autoAdjust="0"/>
  </p:normalViewPr>
  <p:slideViewPr>
    <p:cSldViewPr snapToGrid="0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FC7AB-DE73-442B-BAFD-B31D5ED803C1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0BC03-9BE3-4F86-8DC7-FB6950E603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5651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2F7D0ECE-5C4E-3495-2CEB-8613DE88DDC3}"/>
              </a:ext>
            </a:extLst>
          </p:cNvPr>
          <p:cNvSpPr/>
          <p:nvPr userDrawn="1"/>
        </p:nvSpPr>
        <p:spPr>
          <a:xfrm>
            <a:off x="78043" y="6438202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rgbClr val="215968"/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48895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The Changed Chess Board</a:t>
            </a:r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D89AB-CE05-4D46-9B80-784410E0334B}"/>
              </a:ext>
            </a:extLst>
          </p:cNvPr>
          <p:cNvSpPr/>
          <p:nvPr userDrawn="1"/>
        </p:nvSpPr>
        <p:spPr>
          <a:xfrm>
            <a:off x="3093896" y="6438201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48895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Existing Challenges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AB4021-3D22-AFC1-FD62-A16FF736C227}"/>
              </a:ext>
            </a:extLst>
          </p:cNvPr>
          <p:cNvSpPr/>
          <p:nvPr userDrawn="1"/>
        </p:nvSpPr>
        <p:spPr>
          <a:xfrm>
            <a:off x="6109749" y="6438201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48895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Threats Into Opportunities</a:t>
            </a: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BCD596C1-C19A-DDBB-087B-1E2983893A19}"/>
              </a:ext>
            </a:extLst>
          </p:cNvPr>
          <p:cNvSpPr/>
          <p:nvPr userDrawn="1"/>
        </p:nvSpPr>
        <p:spPr>
          <a:xfrm>
            <a:off x="9125602" y="6438201"/>
            <a:ext cx="3066397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48895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Way Forward - The End Game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44D9A88D-B90A-0E33-8AEB-4696CA4A7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014" y="20755"/>
            <a:ext cx="10443336" cy="718298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362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2F7D0ECE-5C4E-3495-2CEB-8613DE88DDC3}"/>
              </a:ext>
            </a:extLst>
          </p:cNvPr>
          <p:cNvSpPr/>
          <p:nvPr userDrawn="1"/>
        </p:nvSpPr>
        <p:spPr>
          <a:xfrm>
            <a:off x="78043" y="6438202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R="0" lvl="0" indent="0" algn="ctr" defTabSz="488950" fontAlgn="auto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</a:rPr>
              <a:t>The Changed Chess Board</a:t>
            </a:r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D89AB-CE05-4D46-9B80-784410E0334B}"/>
              </a:ext>
            </a:extLst>
          </p:cNvPr>
          <p:cNvSpPr/>
          <p:nvPr userDrawn="1"/>
        </p:nvSpPr>
        <p:spPr>
          <a:xfrm>
            <a:off x="3093896" y="6438201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rgbClr val="215968"/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R="0" lvl="0" indent="0" algn="ctr" defTabSz="488950" fontAlgn="auto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</a:rPr>
              <a:t>Existing Challenges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AB4021-3D22-AFC1-FD62-A16FF736C227}"/>
              </a:ext>
            </a:extLst>
          </p:cNvPr>
          <p:cNvSpPr/>
          <p:nvPr userDrawn="1"/>
        </p:nvSpPr>
        <p:spPr>
          <a:xfrm>
            <a:off x="6109749" y="6438201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48895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Threats Into Opportunities</a:t>
            </a: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BCD596C1-C19A-DDBB-087B-1E2983893A19}"/>
              </a:ext>
            </a:extLst>
          </p:cNvPr>
          <p:cNvSpPr/>
          <p:nvPr userDrawn="1"/>
        </p:nvSpPr>
        <p:spPr>
          <a:xfrm>
            <a:off x="9125602" y="6438201"/>
            <a:ext cx="3066397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48895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Way Forward - The End Game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FA4ED-1D82-E131-58F7-AEBB1FD88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014" y="20755"/>
            <a:ext cx="10443336" cy="718298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802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2F7D0ECE-5C4E-3495-2CEB-8613DE88DDC3}"/>
              </a:ext>
            </a:extLst>
          </p:cNvPr>
          <p:cNvSpPr/>
          <p:nvPr userDrawn="1"/>
        </p:nvSpPr>
        <p:spPr>
          <a:xfrm>
            <a:off x="78043" y="6438202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R="0" lvl="0" indent="0" algn="ctr" defTabSz="488950" fontAlgn="auto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</a:rPr>
              <a:t>The Changed Chess Board</a:t>
            </a:r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D89AB-CE05-4D46-9B80-784410E0334B}"/>
              </a:ext>
            </a:extLst>
          </p:cNvPr>
          <p:cNvSpPr/>
          <p:nvPr userDrawn="1"/>
        </p:nvSpPr>
        <p:spPr>
          <a:xfrm>
            <a:off x="3093896" y="6438201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R="0" lvl="0" indent="0" algn="ctr" defTabSz="488950" fontAlgn="auto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</a:rPr>
              <a:t>Existing Challenges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AB4021-3D22-AFC1-FD62-A16FF736C227}"/>
              </a:ext>
            </a:extLst>
          </p:cNvPr>
          <p:cNvSpPr/>
          <p:nvPr userDrawn="1"/>
        </p:nvSpPr>
        <p:spPr>
          <a:xfrm>
            <a:off x="6109749" y="6438201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rgbClr val="215968"/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R="0" lvl="0" indent="0" algn="ctr" defTabSz="488950" fontAlgn="auto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</a:rPr>
              <a:t>Threats Into Opportunities</a:t>
            </a: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BCD596C1-C19A-DDBB-087B-1E2983893A19}"/>
              </a:ext>
            </a:extLst>
          </p:cNvPr>
          <p:cNvSpPr/>
          <p:nvPr userDrawn="1"/>
        </p:nvSpPr>
        <p:spPr>
          <a:xfrm>
            <a:off x="9125602" y="6438201"/>
            <a:ext cx="3066397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48895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Way Forward - The End Game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5497C-CAAE-C1F1-2A99-688080D3C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014" y="20755"/>
            <a:ext cx="10443336" cy="718298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652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2F7D0ECE-5C4E-3495-2CEB-8613DE88DDC3}"/>
              </a:ext>
            </a:extLst>
          </p:cNvPr>
          <p:cNvSpPr/>
          <p:nvPr userDrawn="1"/>
        </p:nvSpPr>
        <p:spPr>
          <a:xfrm>
            <a:off x="78043" y="6438202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R="0" lvl="0" indent="0" algn="ctr" defTabSz="488950" fontAlgn="auto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</a:rPr>
              <a:t>The Changed Chess Board</a:t>
            </a:r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D89AB-CE05-4D46-9B80-784410E0334B}"/>
              </a:ext>
            </a:extLst>
          </p:cNvPr>
          <p:cNvSpPr/>
          <p:nvPr userDrawn="1"/>
        </p:nvSpPr>
        <p:spPr>
          <a:xfrm>
            <a:off x="3093896" y="6438201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R="0" lvl="0" indent="0" algn="ctr" defTabSz="488950" fontAlgn="auto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</a:rPr>
              <a:t>Existing Challenges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AB4021-3D22-AFC1-FD62-A16FF736C227}"/>
              </a:ext>
            </a:extLst>
          </p:cNvPr>
          <p:cNvSpPr/>
          <p:nvPr userDrawn="1"/>
        </p:nvSpPr>
        <p:spPr>
          <a:xfrm>
            <a:off x="6109749" y="6438201"/>
            <a:ext cx="3080024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R="0" lvl="0" indent="0" algn="ctr" defTabSz="488950" fontAlgn="auto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ndara" panose="020E0502030303020204" pitchFamily="34" charset="0"/>
              </a:rPr>
              <a:t>Threats Into Opportunities</a:t>
            </a: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BCD596C1-C19A-DDBB-087B-1E2983893A19}"/>
              </a:ext>
            </a:extLst>
          </p:cNvPr>
          <p:cNvSpPr/>
          <p:nvPr userDrawn="1"/>
        </p:nvSpPr>
        <p:spPr>
          <a:xfrm>
            <a:off x="9125602" y="6438201"/>
            <a:ext cx="3066397" cy="307777"/>
          </a:xfrm>
          <a:custGeom>
            <a:avLst/>
            <a:gdLst>
              <a:gd name="connsiteX0" fmla="*/ 0 w 2498087"/>
              <a:gd name="connsiteY0" fmla="*/ 0 h 244973"/>
              <a:gd name="connsiteX1" fmla="*/ 2375601 w 2498087"/>
              <a:gd name="connsiteY1" fmla="*/ 0 h 244973"/>
              <a:gd name="connsiteX2" fmla="*/ 2498087 w 2498087"/>
              <a:gd name="connsiteY2" fmla="*/ 122487 h 244973"/>
              <a:gd name="connsiteX3" fmla="*/ 2375601 w 2498087"/>
              <a:gd name="connsiteY3" fmla="*/ 244973 h 244973"/>
              <a:gd name="connsiteX4" fmla="*/ 0 w 2498087"/>
              <a:gd name="connsiteY4" fmla="*/ 244973 h 244973"/>
              <a:gd name="connsiteX5" fmla="*/ 122487 w 2498087"/>
              <a:gd name="connsiteY5" fmla="*/ 122487 h 244973"/>
              <a:gd name="connsiteX6" fmla="*/ 0 w 2498087"/>
              <a:gd name="connsiteY6" fmla="*/ 0 h 24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8087" h="244973">
                <a:moveTo>
                  <a:pt x="0" y="0"/>
                </a:moveTo>
                <a:lnTo>
                  <a:pt x="2375601" y="0"/>
                </a:lnTo>
                <a:lnTo>
                  <a:pt x="2498087" y="122487"/>
                </a:lnTo>
                <a:lnTo>
                  <a:pt x="2375601" y="244973"/>
                </a:lnTo>
                <a:lnTo>
                  <a:pt x="0" y="244973"/>
                </a:lnTo>
                <a:lnTo>
                  <a:pt x="122487" y="122487"/>
                </a:lnTo>
                <a:lnTo>
                  <a:pt x="0" y="0"/>
                </a:lnTo>
                <a:close/>
              </a:path>
            </a:pathLst>
          </a:custGeom>
          <a:solidFill>
            <a:srgbClr val="215968"/>
          </a:solidFill>
          <a:ln w="38100">
            <a:solidFill>
              <a:srgbClr val="FFFFFF"/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R="0" lvl="0" indent="0" algn="ctr" defTabSz="488950" fontAlgn="auto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</a:rPr>
              <a:t>Way Forward - The End Game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92ED3A-117C-A321-2B5E-5C0DD5C2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014" y="20755"/>
            <a:ext cx="10443336" cy="718298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71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1B728AD-D320-8D21-D786-4C12EA21FF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692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1B728AD-D320-8D21-D786-4C12EA21FF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4B9C13-F47F-299E-4F7A-B2BABBA8C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332" y="3069851"/>
            <a:ext cx="10443336" cy="718298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182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0C1FB8-7A2C-60EE-CFE9-08AB869F8DA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F681598-577E-8E92-5041-F3079C184F3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56E23B-C352-6DC2-AB6C-9E86036BC2AA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t="229"/>
          <a:stretch>
            <a:fillRect/>
          </a:stretch>
        </p:blipFill>
        <p:spPr>
          <a:xfrm>
            <a:off x="0" y="2875"/>
            <a:ext cx="785706" cy="783742"/>
          </a:xfrm>
          <a:custGeom>
            <a:avLst/>
            <a:gdLst>
              <a:gd name="connsiteX0" fmla="*/ 3429000 w 6858000"/>
              <a:gd name="connsiteY0" fmla="*/ 0 h 6842293"/>
              <a:gd name="connsiteX1" fmla="*/ 6853918 w 6858000"/>
              <a:gd name="connsiteY1" fmla="*/ 3090697 h 6842293"/>
              <a:gd name="connsiteX2" fmla="*/ 6858000 w 6858000"/>
              <a:gd name="connsiteY2" fmla="*/ 3144381 h 6842293"/>
              <a:gd name="connsiteX3" fmla="*/ 6858000 w 6858000"/>
              <a:gd name="connsiteY3" fmla="*/ 3741003 h 6842293"/>
              <a:gd name="connsiteX4" fmla="*/ 6853918 w 6858000"/>
              <a:gd name="connsiteY4" fmla="*/ 3794687 h 6842293"/>
              <a:gd name="connsiteX5" fmla="*/ 4122822 w 6858000"/>
              <a:gd name="connsiteY5" fmla="*/ 6815441 h 6842293"/>
              <a:gd name="connsiteX6" fmla="*/ 3972456 w 6858000"/>
              <a:gd name="connsiteY6" fmla="*/ 6842293 h 6842293"/>
              <a:gd name="connsiteX7" fmla="*/ 2885544 w 6858000"/>
              <a:gd name="connsiteY7" fmla="*/ 6842293 h 6842293"/>
              <a:gd name="connsiteX8" fmla="*/ 2735178 w 6858000"/>
              <a:gd name="connsiteY8" fmla="*/ 6815441 h 6842293"/>
              <a:gd name="connsiteX9" fmla="*/ 4082 w 6858000"/>
              <a:gd name="connsiteY9" fmla="*/ 3794687 h 6842293"/>
              <a:gd name="connsiteX10" fmla="*/ 0 w 6858000"/>
              <a:gd name="connsiteY10" fmla="*/ 3741003 h 6842293"/>
              <a:gd name="connsiteX11" fmla="*/ 0 w 6858000"/>
              <a:gd name="connsiteY11" fmla="*/ 3144381 h 6842293"/>
              <a:gd name="connsiteX12" fmla="*/ 4082 w 6858000"/>
              <a:gd name="connsiteY12" fmla="*/ 3090697 h 6842293"/>
              <a:gd name="connsiteX13" fmla="*/ 3429000 w 6858000"/>
              <a:gd name="connsiteY13" fmla="*/ 0 h 6842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858000" h="6842293">
                <a:moveTo>
                  <a:pt x="3429000" y="0"/>
                </a:moveTo>
                <a:cubicBezTo>
                  <a:pt x="5211512" y="0"/>
                  <a:pt x="6677618" y="1354699"/>
                  <a:pt x="6853918" y="3090697"/>
                </a:cubicBezTo>
                <a:lnTo>
                  <a:pt x="6858000" y="3144381"/>
                </a:lnTo>
                <a:lnTo>
                  <a:pt x="6858000" y="3741003"/>
                </a:lnTo>
                <a:lnTo>
                  <a:pt x="6853918" y="3794687"/>
                </a:lnTo>
                <a:cubicBezTo>
                  <a:pt x="6701124" y="5299219"/>
                  <a:pt x="5579544" y="6517353"/>
                  <a:pt x="4122822" y="6815441"/>
                </a:cubicBezTo>
                <a:lnTo>
                  <a:pt x="3972456" y="6842293"/>
                </a:lnTo>
                <a:lnTo>
                  <a:pt x="2885544" y="6842293"/>
                </a:lnTo>
                <a:lnTo>
                  <a:pt x="2735178" y="6815441"/>
                </a:lnTo>
                <a:cubicBezTo>
                  <a:pt x="1278457" y="6517353"/>
                  <a:pt x="156876" y="5299219"/>
                  <a:pt x="4082" y="3794687"/>
                </a:cubicBezTo>
                <a:lnTo>
                  <a:pt x="0" y="3741003"/>
                </a:lnTo>
                <a:lnTo>
                  <a:pt x="0" y="3144381"/>
                </a:lnTo>
                <a:lnTo>
                  <a:pt x="4082" y="3090697"/>
                </a:lnTo>
                <a:cubicBezTo>
                  <a:pt x="180383" y="1354699"/>
                  <a:pt x="1646488" y="0"/>
                  <a:pt x="3429000" y="0"/>
                </a:cubicBezTo>
                <a:close/>
              </a:path>
            </a:pathLst>
          </a:custGeom>
        </p:spPr>
      </p:pic>
      <p:sp>
        <p:nvSpPr>
          <p:cNvPr id="13" name="Freeform: Shape 19">
            <a:extLst>
              <a:ext uri="{FF2B5EF4-FFF2-40B4-BE49-F238E27FC236}">
                <a16:creationId xmlns:a16="http://schemas.microsoft.com/office/drawing/2014/main" id="{4E10D949-02D4-D4F7-7039-554DD6BF6B45}"/>
              </a:ext>
            </a:extLst>
          </p:cNvPr>
          <p:cNvSpPr/>
          <p:nvPr userDrawn="1"/>
        </p:nvSpPr>
        <p:spPr>
          <a:xfrm>
            <a:off x="11530405" y="-6115"/>
            <a:ext cx="694997" cy="731520"/>
          </a:xfrm>
          <a:custGeom>
            <a:avLst/>
            <a:gdLst>
              <a:gd name="connsiteX0" fmla="*/ 2342635 w 2342634"/>
              <a:gd name="connsiteY0" fmla="*/ 0 h 2386367"/>
              <a:gd name="connsiteX1" fmla="*/ 2342635 w 2342634"/>
              <a:gd name="connsiteY1" fmla="*/ 0 h 2386367"/>
              <a:gd name="connsiteX2" fmla="*/ 1171317 w 2342634"/>
              <a:gd name="connsiteY2" fmla="*/ 0 h 2386367"/>
              <a:gd name="connsiteX3" fmla="*/ 0 w 2342634"/>
              <a:gd name="connsiteY3" fmla="*/ 0 h 2386367"/>
              <a:gd name="connsiteX4" fmla="*/ 148881 w 2342634"/>
              <a:gd name="connsiteY4" fmla="*/ 288270 h 2386367"/>
              <a:gd name="connsiteX5" fmla="*/ 148881 w 2342634"/>
              <a:gd name="connsiteY5" fmla="*/ 1894504 h 2386367"/>
              <a:gd name="connsiteX6" fmla="*/ 1171131 w 2342634"/>
              <a:gd name="connsiteY6" fmla="*/ 2386368 h 2386367"/>
              <a:gd name="connsiteX7" fmla="*/ 2193382 w 2342634"/>
              <a:gd name="connsiteY7" fmla="*/ 1894504 h 2386367"/>
              <a:gd name="connsiteX8" fmla="*/ 2193382 w 2342634"/>
              <a:gd name="connsiteY8" fmla="*/ 288270 h 2386367"/>
              <a:gd name="connsiteX9" fmla="*/ 2193382 w 2342634"/>
              <a:gd name="connsiteY9" fmla="*/ 288270 h 2386367"/>
              <a:gd name="connsiteX10" fmla="*/ 2342262 w 2342634"/>
              <a:gd name="connsiteY10" fmla="*/ 0 h 2386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42634" h="2386367">
                <a:moveTo>
                  <a:pt x="2342635" y="0"/>
                </a:moveTo>
                <a:lnTo>
                  <a:pt x="2342635" y="0"/>
                </a:lnTo>
                <a:cubicBezTo>
                  <a:pt x="2342635" y="0"/>
                  <a:pt x="1171317" y="0"/>
                  <a:pt x="1171317" y="0"/>
                </a:cubicBezTo>
                <a:lnTo>
                  <a:pt x="0" y="0"/>
                </a:lnTo>
                <a:cubicBezTo>
                  <a:pt x="81884" y="0"/>
                  <a:pt x="148881" y="129712"/>
                  <a:pt x="148881" y="288270"/>
                </a:cubicBezTo>
                <a:lnTo>
                  <a:pt x="148881" y="1894504"/>
                </a:lnTo>
                <a:lnTo>
                  <a:pt x="1171131" y="2386368"/>
                </a:lnTo>
                <a:lnTo>
                  <a:pt x="2193382" y="1894504"/>
                </a:lnTo>
                <a:lnTo>
                  <a:pt x="2193382" y="288270"/>
                </a:lnTo>
                <a:lnTo>
                  <a:pt x="2193382" y="288270"/>
                </a:lnTo>
                <a:cubicBezTo>
                  <a:pt x="2193382" y="129712"/>
                  <a:pt x="2260378" y="0"/>
                  <a:pt x="2342262" y="0"/>
                </a:cubicBezTo>
                <a:close/>
              </a:path>
            </a:pathLst>
          </a:custGeom>
          <a:solidFill>
            <a:srgbClr val="003100"/>
          </a:solidFill>
          <a:ln w="1856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1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FC915E-E56C-8616-868A-337F7AFBA83F}"/>
              </a:ext>
            </a:extLst>
          </p:cNvPr>
          <p:cNvSpPr txBox="1"/>
          <p:nvPr userDrawn="1"/>
        </p:nvSpPr>
        <p:spPr>
          <a:xfrm>
            <a:off x="11510339" y="190370"/>
            <a:ext cx="735129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 defTabSz="1218834"/>
            <a:fld id="{2EEC30BB-C55D-48D1-829C-CA741067273B}" type="slidenum">
              <a:rPr lang="id-ID" altLang="en-US"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defTabSz="1218834"/>
              <a:t>‹#›</a:t>
            </a:fld>
            <a:endParaRPr lang="id-ID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A5B89621-0B2A-E9FD-F926-4582E785B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014" y="20755"/>
            <a:ext cx="10443336" cy="718298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32EFA4-8738-77A9-152C-B195EA0D1507}"/>
              </a:ext>
            </a:extLst>
          </p:cNvPr>
          <p:cNvSpPr/>
          <p:nvPr userDrawn="1"/>
        </p:nvSpPr>
        <p:spPr>
          <a:xfrm>
            <a:off x="2798703" y="676703"/>
            <a:ext cx="6594594" cy="33061"/>
          </a:xfrm>
          <a:prstGeom prst="ellipse">
            <a:avLst/>
          </a:prstGeom>
          <a:solidFill>
            <a:srgbClr val="CC99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799" b="0" i="0" u="none" strike="noStrike" kern="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301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54" r:id="rId5"/>
    <p:sldLayoutId id="2147483663" r:id="rId6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1F5BF-ABCA-7B68-6F5E-FDDFC5973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AD11D1-3085-E62C-550E-843E13C32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332" y="2789567"/>
            <a:ext cx="10443336" cy="127886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3200" dirty="0"/>
              <a:t>TRANSMUTATION; </a:t>
            </a:r>
            <a:r>
              <a:rPr lang="en-GB" sz="3200" dirty="0">
                <a:solidFill>
                  <a:srgbClr val="C00000"/>
                </a:solidFill>
              </a:rPr>
              <a:t>CHALLENGES</a:t>
            </a:r>
            <a:r>
              <a:rPr lang="en-GB" sz="3200" dirty="0"/>
              <a:t> INTO </a:t>
            </a:r>
            <a:r>
              <a:rPr lang="en-GB" sz="3200" dirty="0">
                <a:solidFill>
                  <a:schemeClr val="accent4">
                    <a:lumMod val="50000"/>
                  </a:schemeClr>
                </a:solidFill>
              </a:rPr>
              <a:t>OPPORTUNITIES</a:t>
            </a:r>
            <a:endParaRPr lang="en-GB" sz="24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581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CB6FFC-5F51-2F9D-B850-6A95AA79C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4191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7EF930-A869-1832-2D7B-0A11E9DFC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WAY FWD - THE END GAME</a:t>
            </a:r>
          </a:p>
        </p:txBody>
      </p:sp>
    </p:spTree>
    <p:extLst>
      <p:ext uri="{BB962C8B-B14F-4D97-AF65-F5344CB8AC3E}">
        <p14:creationId xmlns:p14="http://schemas.microsoft.com/office/powerpoint/2010/main" val="4191043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11</Words>
  <Application>Microsoft Macintosh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Candara</vt:lpstr>
      <vt:lpstr>Segoe UI</vt:lpstr>
      <vt:lpstr>Office Theme</vt:lpstr>
      <vt:lpstr>TRANSMUTATION; CHALLENGES INTO OPPORTUNITIES</vt:lpstr>
      <vt:lpstr>PowerPoint Presentation</vt:lpstr>
      <vt:lpstr>WAY FWD - THE END GAME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Khan</dc:creator>
  <cp:lastModifiedBy>Slnzlh</cp:lastModifiedBy>
  <cp:revision>23</cp:revision>
  <dcterms:created xsi:type="dcterms:W3CDTF">2026-10-12T20:27:28Z</dcterms:created>
  <dcterms:modified xsi:type="dcterms:W3CDTF">2026-10-13T23:13:53Z</dcterms:modified>
</cp:coreProperties>
</file>